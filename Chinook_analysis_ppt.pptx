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9" r:id="rId4"/>
    <p:sldId id="278" r:id="rId5"/>
    <p:sldId id="258" r:id="rId6"/>
    <p:sldId id="259" r:id="rId7"/>
    <p:sldId id="281" r:id="rId8"/>
    <p:sldId id="28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3C9BC-DF53-4B2D-9025-648CCF3DBD92}" v="3" dt="2026-05-12T16:55:23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183" autoAdjust="0"/>
  </p:normalViewPr>
  <p:slideViewPr>
    <p:cSldViewPr snapToGrid="0" snapToObjects="1">
      <p:cViewPr varScale="1">
        <p:scale>
          <a:sx n="97" d="100"/>
          <a:sy n="97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(USD)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6F-4092-8EF4-EA5948DBE73D}"/>
              </c:ext>
            </c:extLst>
          </c:dPt>
          <c:dPt>
            <c:idx val="1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6F-4092-8EF4-EA5948DBE73D}"/>
              </c:ext>
            </c:extLst>
          </c:dPt>
          <c:dPt>
            <c:idx val="2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6F-4092-8EF4-EA5948DBE73D}"/>
              </c:ext>
            </c:extLst>
          </c:dPt>
          <c:dPt>
            <c:idx val="3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6F-4092-8EF4-EA5948DBE73D}"/>
              </c:ext>
            </c:extLst>
          </c:dPt>
          <c:dPt>
            <c:idx val="4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6F-4092-8EF4-EA5948DBE73D}"/>
              </c:ext>
            </c:extLst>
          </c:dPt>
          <c:dPt>
            <c:idx val="5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96F-4092-8EF4-EA5948DBE73D}"/>
              </c:ext>
            </c:extLst>
          </c:dPt>
          <c:dPt>
            <c:idx val="6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96F-4092-8EF4-EA5948DBE73D}"/>
              </c:ext>
            </c:extLst>
          </c:dPt>
          <c:dPt>
            <c:idx val="7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96F-4092-8EF4-EA5948DBE73D}"/>
              </c:ext>
            </c:extLst>
          </c:dPt>
          <c:dPt>
            <c:idx val="8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96F-4092-8EF4-EA5948DBE7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Rock</c:v>
                </c:pt>
                <c:pt idx="1">
                  <c:v>Alt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Latin</c:v>
                </c:pt>
                <c:pt idx="6">
                  <c:v>Jazz</c:v>
                </c:pt>
                <c:pt idx="7">
                  <c:v>Reggae</c:v>
                </c:pt>
                <c:pt idx="8">
                  <c:v>Classical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826.65</c:v>
                </c:pt>
                <c:pt idx="1">
                  <c:v>241.56</c:v>
                </c:pt>
                <c:pt idx="2">
                  <c:v>261.36</c:v>
                </c:pt>
                <c:pt idx="3">
                  <c:v>53.46</c:v>
                </c:pt>
                <c:pt idx="4">
                  <c:v>36.630000000000003</c:v>
                </c:pt>
                <c:pt idx="5">
                  <c:v>48.68</c:v>
                </c:pt>
                <c:pt idx="6">
                  <c:v>79.2</c:v>
                </c:pt>
                <c:pt idx="7">
                  <c:v>29.7</c:v>
                </c:pt>
                <c:pt idx="8">
                  <c:v>10.89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96F-4092-8EF4-EA5948DBE7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Genre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57-48FF-BAAC-49BA91DB11E0}"/>
              </c:ext>
            </c:extLst>
          </c:dPt>
          <c:dPt>
            <c:idx val="1"/>
            <c:bubble3D val="0"/>
            <c:spPr>
              <a:solidFill>
                <a:srgbClr val="2A7B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57-48FF-BAAC-49BA91DB11E0}"/>
              </c:ext>
            </c:extLst>
          </c:dPt>
          <c:dPt>
            <c:idx val="2"/>
            <c:bubble3D val="0"/>
            <c:spPr>
              <a:solidFill>
                <a:srgbClr val="EF7C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57-48FF-BAAC-49BA91DB11E0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57-48FF-BAAC-49BA91DB11E0}"/>
              </c:ext>
            </c:extLst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57-48FF-BAAC-49BA91DB11E0}"/>
              </c:ext>
            </c:extLst>
          </c:dPt>
          <c:dPt>
            <c:idx val="5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357-48FF-BAAC-49BA91DB11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57-48FF-BAAC-49BA91DB11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57-48FF-BAAC-49BA91DB11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57-48FF-BAAC-49BA91DB11E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57-48FF-BAAC-49BA91DB11E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357-48FF-BAAC-49BA91DB11E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357-48FF-BAAC-49BA91DB11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Rock</c:v>
                </c:pt>
                <c:pt idx="1">
                  <c:v>Alt &amp; Punk</c:v>
                </c:pt>
                <c:pt idx="2">
                  <c:v>Metal</c:v>
                </c:pt>
                <c:pt idx="3">
                  <c:v>Latin</c:v>
                </c:pt>
                <c:pt idx="4">
                  <c:v>Jazz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561</c:v>
                </c:pt>
                <c:pt idx="1">
                  <c:v>130</c:v>
                </c:pt>
                <c:pt idx="2">
                  <c:v>124</c:v>
                </c:pt>
                <c:pt idx="3">
                  <c:v>386</c:v>
                </c:pt>
                <c:pt idx="4">
                  <c:v>14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357-48FF-BAAC-49BA91DB1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AE-4CA5-A91D-C0B67788CB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AE-4CA5-A91D-C0B67788CB7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8AE-4CA5-A91D-C0B67788CB7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8AE-4CA5-A91D-C0B67788CB7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8AE-4CA5-A91D-C0B67788CB7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8AE-4CA5-A91D-C0B67788CB7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8AE-4CA5-A91D-C0B67788CB76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38AE-4CA5-A91D-C0B67788CB7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38AE-4CA5-A91D-C0B67788CB7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8AE-4CA5-A91D-C0B67788CB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Czech Republic</c:v>
                </c:pt>
                <c:pt idx="2">
                  <c:v>India</c:v>
                </c:pt>
                <c:pt idx="3">
                  <c:v>Brazil</c:v>
                </c:pt>
                <c:pt idx="4">
                  <c:v>Canada</c:v>
                </c:pt>
                <c:pt idx="5">
                  <c:v>France</c:v>
                </c:pt>
                <c:pt idx="6">
                  <c:v>Germany</c:v>
                </c:pt>
                <c:pt idx="7">
                  <c:v>Portugal</c:v>
                </c:pt>
                <c:pt idx="8">
                  <c:v>UK</c:v>
                </c:pt>
                <c:pt idx="9">
                  <c:v>Ireland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523.05999999999995</c:v>
                </c:pt>
                <c:pt idx="1">
                  <c:v>273.24</c:v>
                </c:pt>
                <c:pt idx="2">
                  <c:v>183.15</c:v>
                </c:pt>
                <c:pt idx="3">
                  <c:v>190.1</c:v>
                </c:pt>
                <c:pt idx="4">
                  <c:v>303.95999999999998</c:v>
                </c:pt>
                <c:pt idx="5">
                  <c:v>195.1</c:v>
                </c:pt>
                <c:pt idx="6">
                  <c:v>156.47999999999999</c:v>
                </c:pt>
                <c:pt idx="7">
                  <c:v>185.13</c:v>
                </c:pt>
                <c:pt idx="8">
                  <c:v>112.86</c:v>
                </c:pt>
                <c:pt idx="9">
                  <c:v>114.84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8AE-4CA5-A91D-C0B67788CB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International Units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Rock</c:v>
                </c:pt>
                <c:pt idx="1">
                  <c:v>Metal</c:v>
                </c:pt>
                <c:pt idx="2">
                  <c:v>Alt &amp; Punk</c:v>
                </c:pt>
                <c:pt idx="3">
                  <c:v>Latin</c:v>
                </c:pt>
                <c:pt idx="4">
                  <c:v>Jazz</c:v>
                </c:pt>
                <c:pt idx="5">
                  <c:v>Blues</c:v>
                </c:pt>
                <c:pt idx="6">
                  <c:v>R&amp;B/Soul</c:v>
                </c:pt>
                <c:pt idx="7">
                  <c:v>Electronica</c:v>
                </c:pt>
                <c:pt idx="8">
                  <c:v>Classical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2074</c:v>
                </c:pt>
                <c:pt idx="1">
                  <c:v>495</c:v>
                </c:pt>
                <c:pt idx="2">
                  <c:v>362</c:v>
                </c:pt>
                <c:pt idx="3">
                  <c:v>386</c:v>
                </c:pt>
                <c:pt idx="4">
                  <c:v>286</c:v>
                </c:pt>
                <c:pt idx="5">
                  <c:v>130</c:v>
                </c:pt>
                <c:pt idx="6">
                  <c:v>95</c:v>
                </c:pt>
                <c:pt idx="7">
                  <c:v>50</c:v>
                </c:pt>
                <c:pt idx="8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0-4817-9EBE-AD2E702012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 Units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Rock</c:v>
                </c:pt>
                <c:pt idx="1">
                  <c:v>Metal</c:v>
                </c:pt>
                <c:pt idx="2">
                  <c:v>Alt &amp; Punk</c:v>
                </c:pt>
                <c:pt idx="3">
                  <c:v>Latin</c:v>
                </c:pt>
                <c:pt idx="4">
                  <c:v>Jazz</c:v>
                </c:pt>
                <c:pt idx="5">
                  <c:v>Blues</c:v>
                </c:pt>
                <c:pt idx="6">
                  <c:v>R&amp;B/Soul</c:v>
                </c:pt>
                <c:pt idx="7">
                  <c:v>Electronica</c:v>
                </c:pt>
                <c:pt idx="8">
                  <c:v>Classical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826</c:v>
                </c:pt>
                <c:pt idx="1">
                  <c:v>261</c:v>
                </c:pt>
                <c:pt idx="2">
                  <c:v>241</c:v>
                </c:pt>
                <c:pt idx="3">
                  <c:v>55</c:v>
                </c:pt>
                <c:pt idx="4">
                  <c:v>79</c:v>
                </c:pt>
                <c:pt idx="5">
                  <c:v>37</c:v>
                </c:pt>
                <c:pt idx="6">
                  <c:v>53</c:v>
                </c:pt>
                <c:pt idx="7">
                  <c:v>9</c:v>
                </c:pt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E0-4817-9EBE-AD2E70201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4B-4E6E-8810-A0E08976CD7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44B-4E6E-8810-A0E08976CD7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44B-4E6E-8810-A0E08976CD7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44B-4E6E-8810-A0E08976CD7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44B-4E6E-8810-A0E08976CD7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44B-4E6E-8810-A0E08976CD7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44B-4E6E-8810-A0E08976CD7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44B-4E6E-8810-A0E08976CD74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44B-4E6E-8810-A0E08976CD74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44B-4E6E-8810-A0E08976CD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  <c:pt idx="5">
                  <c:v>Czech Republic</c:v>
                </c:pt>
                <c:pt idx="6">
                  <c:v>UK</c:v>
                </c:pt>
                <c:pt idx="7">
                  <c:v>Portugal</c:v>
                </c:pt>
                <c:pt idx="8">
                  <c:v>India</c:v>
                </c:pt>
                <c:pt idx="9">
                  <c:v>Ireland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44B-4E6E-8810-A0E08976C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ln w="25400" cap="flat">
              <a:solidFill>
                <a:srgbClr val="2A5FA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5FAC"/>
              </a:solidFill>
              <a:ln w="9525" cap="flat">
                <a:solidFill>
                  <a:srgbClr val="2A5FA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Apr</c:v>
                </c:pt>
                <c:pt idx="2">
                  <c:v>Jul</c:v>
                </c:pt>
                <c:pt idx="3">
                  <c:v>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11</c:v>
                </c:pt>
                <c:pt idx="3">
                  <c:v>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A9-4008-B5E7-1DC9537A59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Apr</c:v>
                </c:pt>
                <c:pt idx="2">
                  <c:v>Jul</c:v>
                </c:pt>
                <c:pt idx="3">
                  <c:v>Oct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6A9-4008-B5E7-1DC9537A59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2019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Apr</c:v>
                </c:pt>
                <c:pt idx="2">
                  <c:v>Jul</c:v>
                </c:pt>
                <c:pt idx="3">
                  <c:v>Oct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6A9-4008-B5E7-1DC9537A59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Apr</c:v>
                </c:pt>
                <c:pt idx="2">
                  <c:v>Jul</c:v>
                </c:pt>
                <c:pt idx="3">
                  <c:v>Oct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6A9-4008-B5E7-1DC9537A5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Invoice ($)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AF-4217-B1C5-B829B6603AE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FAF-4217-B1C5-B829B6603AE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FAF-4217-B1C5-B829B6603AE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FAF-4217-B1C5-B829B6603AE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FAF-4217-B1C5-B829B6603AE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FAF-4217-B1C5-B829B6603AE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FAF-4217-B1C5-B829B6603AE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7FAF-4217-B1C5-B829B6603A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Frank H.</c:v>
                </c:pt>
                <c:pt idx="1">
                  <c:v>Mark P.</c:v>
                </c:pt>
                <c:pt idx="2">
                  <c:v>Luís G.</c:v>
                </c:pt>
                <c:pt idx="3">
                  <c:v>Hannah S.</c:v>
                </c:pt>
                <c:pt idx="4">
                  <c:v>Wyatt G.</c:v>
                </c:pt>
                <c:pt idx="5">
                  <c:v>Hugh O.</c:v>
                </c:pt>
                <c:pt idx="6">
                  <c:v>Fiona W.</c:v>
                </c:pt>
                <c:pt idx="7">
                  <c:v>Daan P.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7.8</c:v>
                </c:pt>
                <c:pt idx="1">
                  <c:v>9.1999999999999993</c:v>
                </c:pt>
                <c:pt idx="2">
                  <c:v>8.6</c:v>
                </c:pt>
                <c:pt idx="3">
                  <c:v>7.1</c:v>
                </c:pt>
                <c:pt idx="4">
                  <c:v>9.9</c:v>
                </c:pt>
                <c:pt idx="5">
                  <c:v>9.8000000000000007</c:v>
                </c:pt>
                <c:pt idx="6">
                  <c:v>6.4</c:v>
                </c:pt>
                <c:pt idx="7">
                  <c:v>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FAF-4217-B1C5-B829B6603A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Co-Purchases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75-4C3F-B75B-4072AFC4C7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D75-4C3F-B75B-4072AFC4C7E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D75-4C3F-B75B-4072AFC4C7E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D75-4C3F-B75B-4072AFC4C7E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D75-4C3F-B75B-4072AFC4C7E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D75-4C3F-B75B-4072AFC4C7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Metal + Rock</c:v>
                </c:pt>
                <c:pt idx="1">
                  <c:v>Alt &amp; Punk + Rock</c:v>
                </c:pt>
                <c:pt idx="2">
                  <c:v>Jazz + Rock</c:v>
                </c:pt>
                <c:pt idx="3">
                  <c:v>Blues + Rock</c:v>
                </c:pt>
                <c:pt idx="4">
                  <c:v>Classical + Rock</c:v>
                </c:pt>
                <c:pt idx="5">
                  <c:v>Latin + Rock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986</c:v>
                </c:pt>
                <c:pt idx="1">
                  <c:v>629</c:v>
                </c:pt>
                <c:pt idx="2">
                  <c:v>350</c:v>
                </c:pt>
                <c:pt idx="3">
                  <c:v>290</c:v>
                </c:pt>
                <c:pt idx="4">
                  <c:v>180</c:v>
                </c:pt>
                <c:pt idx="5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D75-4C3F-B75B-4072AFC4C7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07-4DD7-A7E3-A78D6B9A2D7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07-4DD7-A7E3-A78D6B9A2D78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07-4DD7-A7E3-A78D6B9A2D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07-4DD7-A7E3-A78D6B9A2D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07-4DD7-A7E3-A78D6B9A2D7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07-4DD7-A7E3-A78D6B9A2D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Risk</c:v>
                </c:pt>
                <c:pt idx="1">
                  <c:v>Medium Risk</c:v>
                </c:pt>
                <c:pt idx="2">
                  <c:v>Low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20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07-4DD7-A7E3-A78D6B9A2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Value (&gt;$100)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0E-4C65-9EBA-D7B15ECBF6B4}"/>
              </c:ext>
            </c:extLst>
          </c:dPt>
          <c:dPt>
            <c:idx val="1"/>
            <c:invertIfNegative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0E-4C65-9EBA-D7B15ECBF6B4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0E-4C65-9EBA-D7B15ECBF6B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Mid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22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0E-4C65-9EBA-D7B15ECBF6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5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E3-49EF-9CC2-EFDDD9D6CD7E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E3-49EF-9CC2-EFDDD9D6CD7E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E3-49EF-9CC2-EFDDD9D6CD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E3-49EF-9CC2-EFDDD9D6CD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E3-49EF-9CC2-EFDDD9D6CD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E3-49EF-9CC2-EFDDD9D6CD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Frequent (&gt;12 purchases)</c:v>
                </c:pt>
                <c:pt idx="1">
                  <c:v>Occasional (6-11)</c:v>
                </c:pt>
                <c:pt idx="2">
                  <c:v>Rare (&lt;6)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E3-49EF-9CC2-EFDDD9D6C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Co-Purchase Count</c:v>
                </c:pt>
              </c:strCache>
            </c:strRef>
          </c:tx>
          <c:spPr>
            <a:solidFill>
              <a:srgbClr val="2A5FA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5B5-44B9-9BBD-1E22403A48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5B5-44B9-9BBD-1E22403A480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5B5-44B9-9BBD-1E22403A480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5B5-44B9-9BBD-1E22403A480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5B5-44B9-9BBD-1E22403A48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Metal + Rock</c:v>
                </c:pt>
                <c:pt idx="1">
                  <c:v>Alt &amp; Punk + Rock</c:v>
                </c:pt>
                <c:pt idx="2">
                  <c:v>Jazz + Rock</c:v>
                </c:pt>
                <c:pt idx="3">
                  <c:v>Blues + Rock</c:v>
                </c:pt>
                <c:pt idx="4">
                  <c:v>Latin + Rock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986</c:v>
                </c:pt>
                <c:pt idx="1">
                  <c:v>629</c:v>
                </c:pt>
                <c:pt idx="2">
                  <c:v>350</c:v>
                </c:pt>
                <c:pt idx="3">
                  <c:v>290</c:v>
                </c:pt>
                <c:pt idx="4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5B5-44B9-9BBD-1E22403A48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25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BA45-17B8-86AD-FC57-EEFB61C7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A273E-1225-1660-3379-63C7AC5E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E8F4C-DFDC-35AD-5E57-E7FFFD08E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1317A-A73B-125E-2806-6866A6306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2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5F81-80E6-396A-3D29-9B2202E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D17D3-F21A-1950-C18B-3B9E6D8C2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1D519-91A1-76DC-68F5-18FD6B463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724A4-EA13-BC86-300F-6DA9155F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3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9BFD-20C1-E22D-E0CB-2533A23C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16506-79FE-FBD5-391D-6A9523034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67AF5-7977-CC1F-5BE3-B3558FA0D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018BB-9197-6733-52CC-C355154D4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48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A518D-F63C-D4CE-76AC-9BA64CD2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D9D88-75FA-F09B-A033-460F5CB4A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8CD30-680E-54A2-2B94-3E5D3C3F6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2F17A-A36D-741B-1941-EE8C74DA0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93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RECORDS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of 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Music Market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Recommendations for Market Strategy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Analytics Project  |  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Nippa</a:t>
            </a:r>
            <a:endParaRPr lang="en-US" sz="1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Chinook Music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missing values &amp; data quality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30552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313432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artist, track &amp; geo revenue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9624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032504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top customers, behavior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68696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751576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&amp;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4416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rate, inactivity, risk profiling, CLV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87768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470648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3488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albums, cross-sell, retention, campaigns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15C46A-BF50-6873-7FEA-E1B7BE0F8EE8}"/>
              </a:ext>
            </a:extLst>
          </p:cNvPr>
          <p:cNvSpPr txBox="1"/>
          <p:nvPr/>
        </p:nvSpPr>
        <p:spPr>
          <a:xfrm>
            <a:off x="594360" y="1371600"/>
            <a:ext cx="49743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Founded in 1995, Chinook Music Service has grown to become a trusted name in North Central Washington for quality musical instruments, accessories, rentals, and professional repairs. 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Our dedicated team of music specialists and educators is passionate about helping musicians of all levels—from school bands to touring artists—find the right gear and support they need. 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We proudly partner with local schools, music programs, and performers, offering reliable rentals and maintenance services to keep the music playing.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For more information : https://chinookmusic.com/</a:t>
            </a:r>
            <a:endParaRPr lang="en-IN" sz="1400" dirty="0"/>
          </a:p>
          <a:p>
            <a:endParaRPr lang="en-IN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D131003-89C6-0A54-E020-9C9C006C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1371599"/>
            <a:ext cx="3163824" cy="3360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FD46-BA41-B988-3B29-876D703E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595D63-CF7D-B5BA-3426-1EA2CB369517}"/>
              </a:ext>
            </a:extLst>
          </p:cNvPr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8CF6A6-619B-1CC0-D96D-66B028A843D2}"/>
              </a:ext>
            </a:extLst>
          </p:cNvPr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714C3D-A030-733C-1904-84C50D6A7544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E42028-BB46-7B34-469F-271EF2437439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97B16A-2B56-E0D2-DEC8-779371FB130A}"/>
              </a:ext>
            </a:extLst>
          </p:cNvPr>
          <p:cNvSpPr/>
          <p:nvPr/>
        </p:nvSpPr>
        <p:spPr>
          <a:xfrm>
            <a:off x="41148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DBEED62-B8E6-5C5D-BD8B-A5B3F77A7D79}"/>
              </a:ext>
            </a:extLst>
          </p:cNvPr>
          <p:cNvSpPr/>
          <p:nvPr/>
        </p:nvSpPr>
        <p:spPr>
          <a:xfrm>
            <a:off x="594360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ED33C5-1DBB-2C15-C45B-07C56E3C81A8}"/>
              </a:ext>
            </a:extLst>
          </p:cNvPr>
          <p:cNvSpPr/>
          <p:nvPr/>
        </p:nvSpPr>
        <p:spPr>
          <a:xfrm>
            <a:off x="4114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43E033-E6AB-109A-6446-B9DF78916D0E}"/>
              </a:ext>
            </a:extLst>
          </p:cNvPr>
          <p:cNvSpPr/>
          <p:nvPr/>
        </p:nvSpPr>
        <p:spPr>
          <a:xfrm>
            <a:off x="457200" y="2446020"/>
            <a:ext cx="146304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missing values &amp; data quality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0CCF9BE-4544-897B-4F36-86F81F8BFA2A}"/>
              </a:ext>
            </a:extLst>
          </p:cNvPr>
          <p:cNvSpPr/>
          <p:nvPr/>
        </p:nvSpPr>
        <p:spPr>
          <a:xfrm>
            <a:off x="2130552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94755F-2E53-D407-EAA0-282A4D09B77F}"/>
              </a:ext>
            </a:extLst>
          </p:cNvPr>
          <p:cNvSpPr/>
          <p:nvPr/>
        </p:nvSpPr>
        <p:spPr>
          <a:xfrm>
            <a:off x="2313432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17BBF2-0701-6AC7-E777-58F900594CF9}"/>
              </a:ext>
            </a:extLst>
          </p:cNvPr>
          <p:cNvSpPr/>
          <p:nvPr/>
        </p:nvSpPr>
        <p:spPr>
          <a:xfrm>
            <a:off x="213055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A5B65BA-99AE-5145-9542-0085E9C85417}"/>
              </a:ext>
            </a:extLst>
          </p:cNvPr>
          <p:cNvSpPr/>
          <p:nvPr/>
        </p:nvSpPr>
        <p:spPr>
          <a:xfrm>
            <a:off x="3849624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C654D70-6618-7F29-17DA-7158A7FE8726}"/>
              </a:ext>
            </a:extLst>
          </p:cNvPr>
          <p:cNvSpPr/>
          <p:nvPr/>
        </p:nvSpPr>
        <p:spPr>
          <a:xfrm>
            <a:off x="4032504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C18422-BFED-A486-218D-254228451D74}"/>
              </a:ext>
            </a:extLst>
          </p:cNvPr>
          <p:cNvSpPr/>
          <p:nvPr/>
        </p:nvSpPr>
        <p:spPr>
          <a:xfrm>
            <a:off x="3849624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80D4205-5BEE-C8AA-89EE-6E42E4A695DE}"/>
              </a:ext>
            </a:extLst>
          </p:cNvPr>
          <p:cNvSpPr/>
          <p:nvPr/>
        </p:nvSpPr>
        <p:spPr>
          <a:xfrm>
            <a:off x="3895344" y="244602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top customers, behavior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A154D1D-75BC-CA64-D6D5-185BD475E4E5}"/>
              </a:ext>
            </a:extLst>
          </p:cNvPr>
          <p:cNvSpPr/>
          <p:nvPr/>
        </p:nvSpPr>
        <p:spPr>
          <a:xfrm>
            <a:off x="5568696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D6D6D25-E45F-A503-61D3-98C9EB99B22E}"/>
              </a:ext>
            </a:extLst>
          </p:cNvPr>
          <p:cNvSpPr/>
          <p:nvPr/>
        </p:nvSpPr>
        <p:spPr>
          <a:xfrm>
            <a:off x="5751576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F5FFD92-8EA0-C45E-3210-18C87F6457B6}"/>
              </a:ext>
            </a:extLst>
          </p:cNvPr>
          <p:cNvSpPr/>
          <p:nvPr/>
        </p:nvSpPr>
        <p:spPr>
          <a:xfrm>
            <a:off x="5568696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&amp; Risk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35EE611-FE32-BB85-6653-94C1D4147B51}"/>
              </a:ext>
            </a:extLst>
          </p:cNvPr>
          <p:cNvSpPr/>
          <p:nvPr/>
        </p:nvSpPr>
        <p:spPr>
          <a:xfrm>
            <a:off x="5614416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rate, inactivity, risk profiling, CLV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96E24C-0326-146E-44A9-FBBE048E8F7F}"/>
              </a:ext>
            </a:extLst>
          </p:cNvPr>
          <p:cNvSpPr/>
          <p:nvPr/>
        </p:nvSpPr>
        <p:spPr>
          <a:xfrm>
            <a:off x="7287768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9060201-9632-91D9-7377-F77FFC97C377}"/>
              </a:ext>
            </a:extLst>
          </p:cNvPr>
          <p:cNvSpPr/>
          <p:nvPr/>
        </p:nvSpPr>
        <p:spPr>
          <a:xfrm>
            <a:off x="7470648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4982B44-178E-B294-09E4-96CC4A1883C3}"/>
              </a:ext>
            </a:extLst>
          </p:cNvPr>
          <p:cNvSpPr/>
          <p:nvPr/>
        </p:nvSpPr>
        <p:spPr>
          <a:xfrm>
            <a:off x="7287768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31A7D5E-AD05-C2BB-D8A5-7C5FBA6F1502}"/>
              </a:ext>
            </a:extLst>
          </p:cNvPr>
          <p:cNvSpPr/>
          <p:nvPr/>
        </p:nvSpPr>
        <p:spPr>
          <a:xfrm>
            <a:off x="7333488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albums, cross-sell, retention, campaigns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72AB5-0786-17C0-8B85-8E79309F2D3C}"/>
              </a:ext>
            </a:extLst>
          </p:cNvPr>
          <p:cNvSpPr txBox="1"/>
          <p:nvPr/>
        </p:nvSpPr>
        <p:spPr>
          <a:xfrm>
            <a:off x="434340" y="1051560"/>
            <a:ext cx="8275320" cy="100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b="1" i="1" dirty="0">
                <a:solidFill>
                  <a:schemeClr val="accent1"/>
                </a:solidFill>
              </a:rPr>
              <a:t>Central Question</a:t>
            </a:r>
            <a:endParaRPr lang="en-IN" sz="1400" dirty="0"/>
          </a:p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Chinook leverage its music sales data to drive growth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refine its strategy in the physical music market?</a:t>
            </a:r>
            <a:endParaRPr lang="en-US" sz="1400" dirty="0"/>
          </a:p>
          <a:p>
            <a:pPr algn="just"/>
            <a:endParaRPr lang="en-IN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B6DBC5-4BF3-AFF1-A6E8-4BFAB7F19C66}"/>
              </a:ext>
            </a:extLst>
          </p:cNvPr>
          <p:cNvSpPr txBox="1"/>
          <p:nvPr/>
        </p:nvSpPr>
        <p:spPr>
          <a:xfrm>
            <a:off x="457200" y="2011680"/>
            <a:ext cx="5001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/>
              <a:t>Three Analytical Pillars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60EC057-6C58-6576-E8BF-29EAE61E9709}"/>
              </a:ext>
            </a:extLst>
          </p:cNvPr>
          <p:cNvSpPr/>
          <p:nvPr/>
        </p:nvSpPr>
        <p:spPr>
          <a:xfrm>
            <a:off x="594360" y="2319457"/>
            <a:ext cx="2476132" cy="2612355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84DAB7EE-430B-4DD8-4CA2-F883E80A39BA}"/>
              </a:ext>
            </a:extLst>
          </p:cNvPr>
          <p:cNvSpPr/>
          <p:nvPr/>
        </p:nvSpPr>
        <p:spPr>
          <a:xfrm>
            <a:off x="609022" y="2343150"/>
            <a:ext cx="2461470" cy="307198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  <p:txBody>
          <a:bodyPr/>
          <a:lstStyle/>
          <a:p>
            <a:r>
              <a:rPr lang="en-IN" sz="1200" b="1" dirty="0">
                <a:solidFill>
                  <a:schemeClr val="bg2">
                    <a:lumMod val="90000"/>
                  </a:schemeClr>
                </a:solidFill>
              </a:rPr>
              <a:t>1. Understand the market</a:t>
            </a: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AC9C1796-08C1-1D7E-46B5-96ECEC6B6007}"/>
              </a:ext>
            </a:extLst>
          </p:cNvPr>
          <p:cNvSpPr/>
          <p:nvPr/>
        </p:nvSpPr>
        <p:spPr>
          <a:xfrm>
            <a:off x="3372244" y="2319456"/>
            <a:ext cx="2251318" cy="2612355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C839977E-F058-D9D0-35EC-0479323CA599}"/>
              </a:ext>
            </a:extLst>
          </p:cNvPr>
          <p:cNvSpPr/>
          <p:nvPr/>
        </p:nvSpPr>
        <p:spPr>
          <a:xfrm>
            <a:off x="6043238" y="2319455"/>
            <a:ext cx="2251318" cy="2612355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BFD22503-32FB-6409-02D9-1B99E25F46E9}"/>
              </a:ext>
            </a:extLst>
          </p:cNvPr>
          <p:cNvSpPr/>
          <p:nvPr/>
        </p:nvSpPr>
        <p:spPr>
          <a:xfrm>
            <a:off x="3372244" y="2343150"/>
            <a:ext cx="2251318" cy="3071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r>
              <a:rPr lang="en-IN" sz="1200" b="1" dirty="0">
                <a:solidFill>
                  <a:schemeClr val="bg2">
                    <a:lumMod val="90000"/>
                  </a:schemeClr>
                </a:solidFill>
              </a:rPr>
              <a:t>2. Know the Customer</a:t>
            </a:r>
          </a:p>
        </p:txBody>
      </p:sp>
      <p:sp>
        <p:nvSpPr>
          <p:cNvPr id="42" name="Shape 47">
            <a:extLst>
              <a:ext uri="{FF2B5EF4-FFF2-40B4-BE49-F238E27FC236}">
                <a16:creationId xmlns:a16="http://schemas.microsoft.com/office/drawing/2014/main" id="{E64DB2CC-7D07-41D5-04F7-FFBDC2C4D0FC}"/>
              </a:ext>
            </a:extLst>
          </p:cNvPr>
          <p:cNvSpPr/>
          <p:nvPr/>
        </p:nvSpPr>
        <p:spPr>
          <a:xfrm>
            <a:off x="6072090" y="2343150"/>
            <a:ext cx="2222466" cy="33147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r>
              <a:rPr lang="en-IN" sz="1200" b="1" dirty="0">
                <a:solidFill>
                  <a:schemeClr val="bg2">
                    <a:lumMod val="90000"/>
                  </a:schemeClr>
                </a:solidFill>
              </a:rPr>
              <a:t>3. Shape the Strategy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D6BA2A-2808-07D5-B193-0852B4AF12C6}"/>
              </a:ext>
            </a:extLst>
          </p:cNvPr>
          <p:cNvSpPr txBox="1"/>
          <p:nvPr/>
        </p:nvSpPr>
        <p:spPr>
          <a:xfrm>
            <a:off x="718197" y="2701147"/>
            <a:ext cx="2243120" cy="271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genres, artists &amp; tracks lead USA sales?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vary across geographies?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total sales does each genre command?</a:t>
            </a:r>
            <a:endParaRPr lang="en-US" sz="1100" dirty="0"/>
          </a:p>
          <a:p>
            <a:pPr>
              <a:lnSpc>
                <a:spcPct val="115000"/>
              </a:lnSpc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A161CD-A6D1-B817-C405-84342C563B22}"/>
              </a:ext>
            </a:extLst>
          </p:cNvPr>
          <p:cNvSpPr txBox="1"/>
          <p:nvPr/>
        </p:nvSpPr>
        <p:spPr>
          <a:xfrm>
            <a:off x="3445711" y="2727269"/>
            <a:ext cx="21043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revenue customers by country?</a:t>
            </a:r>
          </a:p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purchase behavior &amp; spending patterns?</a:t>
            </a:r>
          </a:p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at risk of churning?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EFE7E0-AA34-8E5D-F2C9-6B4C93ABB6E7}"/>
              </a:ext>
            </a:extLst>
          </p:cNvPr>
          <p:cNvSpPr txBox="1"/>
          <p:nvPr/>
        </p:nvSpPr>
        <p:spPr>
          <a:xfrm>
            <a:off x="6098104" y="2766272"/>
            <a:ext cx="211021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albums should be prioritized for promotion?</a:t>
            </a:r>
          </a:p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cross-selling &amp; bundling drive revenue?</a:t>
            </a:r>
          </a:p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re-engagement &amp; retention actions to take?</a:t>
            </a:r>
            <a:endParaRPr lang="en-US" sz="1100" dirty="0"/>
          </a:p>
          <a:p>
            <a:endParaRPr lang="en-US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2801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163D-4DA4-968F-F05B-0E9CEA89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4B7030-1F07-D628-03EB-29E29029F3A1}"/>
              </a:ext>
            </a:extLst>
          </p:cNvPr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BCB033-6B92-688F-B421-A956CD2491BE}"/>
              </a:ext>
            </a:extLst>
          </p:cNvPr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7E4D01-4389-4AAE-E8C4-ADE88A74B5B5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 — Five Analytical Section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2D7A23-B38F-3FAD-69EA-046E5A62FF2B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9EF67E-0F5A-131D-16A9-B818CF8D4FD0}"/>
              </a:ext>
            </a:extLst>
          </p:cNvPr>
          <p:cNvSpPr/>
          <p:nvPr/>
        </p:nvSpPr>
        <p:spPr>
          <a:xfrm>
            <a:off x="411480" y="1280160"/>
            <a:ext cx="1554480" cy="310896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99412B-D4F8-B6C0-77E1-2E8DAFF9F230}"/>
              </a:ext>
            </a:extLst>
          </p:cNvPr>
          <p:cNvSpPr/>
          <p:nvPr/>
        </p:nvSpPr>
        <p:spPr>
          <a:xfrm>
            <a:off x="41148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00F971-F3F3-F7D4-75CD-A212A50F1492}"/>
              </a:ext>
            </a:extLst>
          </p:cNvPr>
          <p:cNvSpPr/>
          <p:nvPr/>
        </p:nvSpPr>
        <p:spPr>
          <a:xfrm>
            <a:off x="594360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11F71E-D3BD-5982-D095-4C3EE836E50E}"/>
              </a:ext>
            </a:extLst>
          </p:cNvPr>
          <p:cNvSpPr/>
          <p:nvPr/>
        </p:nvSpPr>
        <p:spPr>
          <a:xfrm>
            <a:off x="4114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EEC1A27-5A13-3102-1A38-7B0945A44233}"/>
              </a:ext>
            </a:extLst>
          </p:cNvPr>
          <p:cNvSpPr/>
          <p:nvPr/>
        </p:nvSpPr>
        <p:spPr>
          <a:xfrm>
            <a:off x="457200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project overflow, missing values &amp; data quality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71D1298-E063-677B-E9D0-E5A784BB61D9}"/>
              </a:ext>
            </a:extLst>
          </p:cNvPr>
          <p:cNvSpPr/>
          <p:nvPr/>
        </p:nvSpPr>
        <p:spPr>
          <a:xfrm>
            <a:off x="2130552" y="1280160"/>
            <a:ext cx="1554480" cy="3108960"/>
          </a:xfrm>
          <a:prstGeom prst="rect">
            <a:avLst/>
          </a:prstGeom>
          <a:solidFill>
            <a:srgbClr val="2A5F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0F567E-1342-A91D-7C97-CFC87C5F7769}"/>
              </a:ext>
            </a:extLst>
          </p:cNvPr>
          <p:cNvSpPr/>
          <p:nvPr/>
        </p:nvSpPr>
        <p:spPr>
          <a:xfrm>
            <a:off x="2130552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E0970C7-8290-B48E-9F92-735B473AB9FA}"/>
              </a:ext>
            </a:extLst>
          </p:cNvPr>
          <p:cNvSpPr/>
          <p:nvPr/>
        </p:nvSpPr>
        <p:spPr>
          <a:xfrm>
            <a:off x="2313432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EBCCBD-54D1-E142-DB9D-D782E29C9FAB}"/>
              </a:ext>
            </a:extLst>
          </p:cNvPr>
          <p:cNvSpPr/>
          <p:nvPr/>
        </p:nvSpPr>
        <p:spPr>
          <a:xfrm>
            <a:off x="213055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635BA0-06EF-BB9C-10B5-A64ABA7EE47B}"/>
              </a:ext>
            </a:extLst>
          </p:cNvPr>
          <p:cNvSpPr/>
          <p:nvPr/>
        </p:nvSpPr>
        <p:spPr>
          <a:xfrm>
            <a:off x="2176272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artist, track &amp; geo revenue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0BE7695-9894-C771-2B04-A37E7430FED1}"/>
              </a:ext>
            </a:extLst>
          </p:cNvPr>
          <p:cNvSpPr/>
          <p:nvPr/>
        </p:nvSpPr>
        <p:spPr>
          <a:xfrm>
            <a:off x="3849624" y="1280160"/>
            <a:ext cx="1554480" cy="31089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14F86B1-B84C-34F8-E1CC-882E4EF719DE}"/>
              </a:ext>
            </a:extLst>
          </p:cNvPr>
          <p:cNvSpPr/>
          <p:nvPr/>
        </p:nvSpPr>
        <p:spPr>
          <a:xfrm>
            <a:off x="3849624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DE59C05-39F0-8C5E-38AC-37C0C044CC63}"/>
              </a:ext>
            </a:extLst>
          </p:cNvPr>
          <p:cNvSpPr/>
          <p:nvPr/>
        </p:nvSpPr>
        <p:spPr>
          <a:xfrm>
            <a:off x="4032504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775C67-8735-3ED1-846C-BBC7F237BF87}"/>
              </a:ext>
            </a:extLst>
          </p:cNvPr>
          <p:cNvSpPr/>
          <p:nvPr/>
        </p:nvSpPr>
        <p:spPr>
          <a:xfrm>
            <a:off x="3849624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1249F0-5E9F-E58E-F21E-CD8B63E60AC9}"/>
              </a:ext>
            </a:extLst>
          </p:cNvPr>
          <p:cNvSpPr/>
          <p:nvPr/>
        </p:nvSpPr>
        <p:spPr>
          <a:xfrm>
            <a:off x="3895344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top customers, behavior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94D7C6D-1AD1-23FB-869A-0639DA23E8BE}"/>
              </a:ext>
            </a:extLst>
          </p:cNvPr>
          <p:cNvSpPr/>
          <p:nvPr/>
        </p:nvSpPr>
        <p:spPr>
          <a:xfrm>
            <a:off x="5568696" y="1280160"/>
            <a:ext cx="1554480" cy="310896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E4D6D7-A17D-77D6-6308-DA4C72DB535C}"/>
              </a:ext>
            </a:extLst>
          </p:cNvPr>
          <p:cNvSpPr/>
          <p:nvPr/>
        </p:nvSpPr>
        <p:spPr>
          <a:xfrm>
            <a:off x="5568696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1855A03-6D15-A9EB-C265-D2A3F2D4083E}"/>
              </a:ext>
            </a:extLst>
          </p:cNvPr>
          <p:cNvSpPr/>
          <p:nvPr/>
        </p:nvSpPr>
        <p:spPr>
          <a:xfrm>
            <a:off x="5751576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8B78D05-EFEE-B346-699F-076E76BE1964}"/>
              </a:ext>
            </a:extLst>
          </p:cNvPr>
          <p:cNvSpPr/>
          <p:nvPr/>
        </p:nvSpPr>
        <p:spPr>
          <a:xfrm>
            <a:off x="5568696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&amp; Risk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3D1E93-6D3C-3EB3-FCCB-7F27EB6061D7}"/>
              </a:ext>
            </a:extLst>
          </p:cNvPr>
          <p:cNvSpPr/>
          <p:nvPr/>
        </p:nvSpPr>
        <p:spPr>
          <a:xfrm>
            <a:off x="5614416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rate, inactivity, risk profiling, CLV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092C945-2A73-8991-E363-D104F96E05FC}"/>
              </a:ext>
            </a:extLst>
          </p:cNvPr>
          <p:cNvSpPr/>
          <p:nvPr/>
        </p:nvSpPr>
        <p:spPr>
          <a:xfrm>
            <a:off x="7287768" y="1280160"/>
            <a:ext cx="1554480" cy="3108960"/>
          </a:xfrm>
          <a:prstGeom prst="rect">
            <a:avLst/>
          </a:prstGeom>
          <a:solidFill>
            <a:srgbClr val="596F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83460E2-23B8-8002-279D-0CCE04853A22}"/>
              </a:ext>
            </a:extLst>
          </p:cNvPr>
          <p:cNvSpPr/>
          <p:nvPr/>
        </p:nvSpPr>
        <p:spPr>
          <a:xfrm>
            <a:off x="7287768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DB228BF-ECD8-9176-D795-993561D4CB87}"/>
              </a:ext>
            </a:extLst>
          </p:cNvPr>
          <p:cNvSpPr/>
          <p:nvPr/>
        </p:nvSpPr>
        <p:spPr>
          <a:xfrm>
            <a:off x="7470648" y="19202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B57A6A4-B286-ABE4-BA01-3E66C1BECBE4}"/>
              </a:ext>
            </a:extLst>
          </p:cNvPr>
          <p:cNvSpPr/>
          <p:nvPr/>
        </p:nvSpPr>
        <p:spPr>
          <a:xfrm>
            <a:off x="7287768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CFEE47B-EDE1-92E2-1B01-B34FF801ECBB}"/>
              </a:ext>
            </a:extLst>
          </p:cNvPr>
          <p:cNvSpPr/>
          <p:nvPr/>
        </p:nvSpPr>
        <p:spPr>
          <a:xfrm>
            <a:off x="7333488" y="251460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albums, cross-sell, retention, campaigns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6515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 — Conclusions First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FA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109728" cy="9601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Dominates USA &amp; Global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4904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is #1 genre in USA sales by total revenue. Alt &amp; Punk #2, Metal #3. Consistent pattern internationally.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Drive Disproportionate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87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customers by country contribute the majority of regional revenue — VIP management is critical.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Activity Declined 2017–2020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6850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analysis shows a clear decreasing trend in purchases across all customers heading into 2020.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10972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Regional Churn in Key Cities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7488" y="14904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analyzed cities show 100% churn rate over 1 year. Overall rate is 1.85% — regional picture is alarming.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240280"/>
            <a:ext cx="109728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Metal–Rock = Top Cross-Selling Pair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2587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986 co-purchases of Metal &amp; Rock — the highest affinity pair. Unlocks bundling &amp; upselling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 ·  DATA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25511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InvoiceLine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5236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5236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52360" y="25511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5236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04A34-2D9B-AC75-3B27-A541729BD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321040" cy="3812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62B3-0F86-5BA3-6942-F81E1AC6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C8756B-F5CC-7A32-8B85-14251E95C9FF}"/>
              </a:ext>
            </a:extLst>
          </p:cNvPr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93479C-6A7A-B774-A79D-D3821B86880C}"/>
              </a:ext>
            </a:extLst>
          </p:cNvPr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 ·  DATA FOUNDATION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761617-59C7-84E2-D7F2-78D9CD041A13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Overflow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C64682-F7E9-5CA8-88C1-7ED6DBF7BED8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299CF7-6038-C8FD-5468-2D8DA068B23B}"/>
              </a:ext>
            </a:extLst>
          </p:cNvPr>
          <p:cNvSpPr/>
          <p:nvPr/>
        </p:nvSpPr>
        <p:spPr>
          <a:xfrm>
            <a:off x="603504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374F00A-BD7B-0130-E211-73A3B691D0EB}"/>
              </a:ext>
            </a:extLst>
          </p:cNvPr>
          <p:cNvSpPr/>
          <p:nvPr/>
        </p:nvSpPr>
        <p:spPr>
          <a:xfrm>
            <a:off x="603504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171E7D7-6F6F-80F6-E72E-1E4233987AA0}"/>
              </a:ext>
            </a:extLst>
          </p:cNvPr>
          <p:cNvSpPr/>
          <p:nvPr/>
        </p:nvSpPr>
        <p:spPr>
          <a:xfrm>
            <a:off x="745236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AEAF244-016F-7445-4462-02BA9ED8DEA1}"/>
              </a:ext>
            </a:extLst>
          </p:cNvPr>
          <p:cNvSpPr/>
          <p:nvPr/>
        </p:nvSpPr>
        <p:spPr>
          <a:xfrm>
            <a:off x="745236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</a:t>
            </a:r>
            <a:endParaRPr lang="en-US" sz="10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0F075A6-53EF-E410-8F97-42C8AEE166A6}"/>
              </a:ext>
            </a:extLst>
          </p:cNvPr>
          <p:cNvSpPr/>
          <p:nvPr/>
        </p:nvSpPr>
        <p:spPr>
          <a:xfrm>
            <a:off x="7452360" y="25511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181C921-4B84-131F-18E8-8D969B827269}"/>
              </a:ext>
            </a:extLst>
          </p:cNvPr>
          <p:cNvSpPr/>
          <p:nvPr/>
        </p:nvSpPr>
        <p:spPr>
          <a:xfrm>
            <a:off x="745236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9109D-0122-A7EB-47DD-B346CF5BA2D7}"/>
              </a:ext>
            </a:extLst>
          </p:cNvPr>
          <p:cNvSpPr txBox="1"/>
          <p:nvPr/>
        </p:nvSpPr>
        <p:spPr>
          <a:xfrm>
            <a:off x="457200" y="1051560"/>
            <a:ext cx="80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Data Collection:</a:t>
            </a:r>
          </a:p>
          <a:p>
            <a:pPr algn="just"/>
            <a:r>
              <a:rPr lang="en-US" sz="1250" dirty="0"/>
              <a:t>Extracted raw data from the Chinook SQL database (customers, invoices, </a:t>
            </a:r>
            <a:r>
              <a:rPr lang="en-US" sz="1250" dirty="0" err="1"/>
              <a:t>invoice_line</a:t>
            </a:r>
            <a:r>
              <a:rPr lang="en-US" sz="1250" dirty="0"/>
              <a:t>, employee, tracks, albums, artists, genres, </a:t>
            </a:r>
            <a:r>
              <a:rPr lang="en-US" sz="1250" dirty="0" err="1"/>
              <a:t>media_type</a:t>
            </a:r>
            <a:r>
              <a:rPr lang="en-US" sz="1250" dirty="0"/>
              <a:t>, playlist, </a:t>
            </a:r>
            <a:r>
              <a:rPr lang="en-US" sz="1250" dirty="0" err="1"/>
              <a:t>playlist_track</a:t>
            </a:r>
            <a:r>
              <a:rPr lang="en-US" sz="1250" dirty="0"/>
              <a:t>).</a:t>
            </a:r>
          </a:p>
          <a:p>
            <a:pPr algn="just"/>
            <a:endParaRPr lang="en-US" sz="1250" dirty="0"/>
          </a:p>
          <a:p>
            <a:pPr algn="just"/>
            <a:r>
              <a:rPr lang="en-US" sz="1400" b="1" dirty="0"/>
              <a:t>Data Cleaning:</a:t>
            </a:r>
          </a:p>
          <a:p>
            <a:pPr algn="just"/>
            <a:r>
              <a:rPr lang="en-US" sz="1250" dirty="0"/>
              <a:t>Identified and removed duplicates and NULL values using SQL (COALESCE, DISTINCT).</a:t>
            </a:r>
          </a:p>
          <a:p>
            <a:pPr algn="just"/>
            <a:endParaRPr lang="en-US" sz="1250" dirty="0"/>
          </a:p>
          <a:p>
            <a:pPr algn="just"/>
            <a:r>
              <a:rPr lang="en-US" sz="1400" b="1" dirty="0"/>
              <a:t>ERD Creation:</a:t>
            </a:r>
          </a:p>
          <a:p>
            <a:pPr algn="just"/>
            <a:r>
              <a:rPr lang="en-US" sz="1250" dirty="0"/>
              <a:t>Built an ERD to understand table relationships and guide join operations.</a:t>
            </a:r>
          </a:p>
          <a:p>
            <a:pPr algn="just"/>
            <a:endParaRPr lang="en-US" sz="1250" dirty="0"/>
          </a:p>
          <a:p>
            <a:pPr algn="just"/>
            <a:r>
              <a:rPr lang="en-US" sz="1400" b="1" dirty="0"/>
              <a:t>SQL Analysis:</a:t>
            </a:r>
          </a:p>
          <a:p>
            <a:pPr algn="just"/>
            <a:r>
              <a:rPr lang="en-US" sz="1250" dirty="0"/>
              <a:t>Used joins, CTEs, aggregations, and window functions (RANK, ROW_NUMBER) to analyze sales, customers, and genres.</a:t>
            </a:r>
          </a:p>
          <a:p>
            <a:pPr algn="just"/>
            <a:endParaRPr lang="en-US" sz="1250" dirty="0"/>
          </a:p>
          <a:p>
            <a:pPr algn="just"/>
            <a:r>
              <a:rPr lang="en-US" sz="1400" b="1" dirty="0"/>
              <a:t>Segmentation &amp; Insights:</a:t>
            </a:r>
          </a:p>
          <a:p>
            <a:pPr algn="just"/>
            <a:r>
              <a:rPr lang="en-US" sz="1250" dirty="0"/>
              <a:t>Segmented data by country, genre, and customer behavior; identified churn and purchase patterns.</a:t>
            </a:r>
          </a:p>
          <a:p>
            <a:pPr algn="just"/>
            <a:endParaRPr lang="en-US" sz="1250" dirty="0"/>
          </a:p>
          <a:p>
            <a:pPr algn="just"/>
            <a:r>
              <a:rPr lang="en-US" sz="1400" b="1" dirty="0"/>
              <a:t>Reporting:</a:t>
            </a:r>
          </a:p>
          <a:p>
            <a:pPr algn="just"/>
            <a:r>
              <a:rPr lang="en-US" sz="1250" dirty="0"/>
              <a:t>Created PowerPoint slides with visual insights and strategic recommendations.</a:t>
            </a:r>
            <a:endParaRPr lang="en-IN" sz="125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62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9434-55E1-E1EA-171B-92FA2EE2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FC5C0F-2978-1E1A-5685-CC2570C2DAD6}"/>
              </a:ext>
            </a:extLst>
          </p:cNvPr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2688BF-65CC-1DD5-7A96-BB7FF0997669}"/>
              </a:ext>
            </a:extLst>
          </p:cNvPr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 ·  DATA FOUNDATION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939A9A-6002-0AEA-18C7-DF580254FCB3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Schema — A Clean Foundation for Analysis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A89426-2A92-2EDA-E60A-72197643B968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A1CCEE3-8A1C-EA54-7BB4-BA4705A9FDD7}"/>
              </a:ext>
            </a:extLst>
          </p:cNvPr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with Missing Values</a:t>
            </a:r>
            <a:endParaRPr lang="en-US" sz="11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398CAB3-DC34-748B-D4BF-C24427443B8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17320"/>
          <a:ext cx="530352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company, state, postal_code, phone, fax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COALESCE() → Default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reports_to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COALESCE() → 'Not Available'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composer, milliseconds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COALESCE() → Default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A4F80744-DA08-72E1-13B0-85EA87A80C10}"/>
              </a:ext>
            </a:extLst>
          </p:cNvPr>
          <p:cNvSpPr/>
          <p:nvPr/>
        </p:nvSpPr>
        <p:spPr>
          <a:xfrm>
            <a:off x="457200" y="2971800"/>
            <a:ext cx="5303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DD8E0A3-F4ED-246C-3DF4-EB247C60E789}"/>
              </a:ext>
            </a:extLst>
          </p:cNvPr>
          <p:cNvSpPr/>
          <p:nvPr/>
        </p:nvSpPr>
        <p:spPr>
          <a:xfrm>
            <a:off x="59436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Principle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A696F6F-7545-38BA-F3EB-20165316FFB0}"/>
              </a:ext>
            </a:extLst>
          </p:cNvPr>
          <p:cNvSpPr/>
          <p:nvPr/>
        </p:nvSpPr>
        <p:spPr>
          <a:xfrm>
            <a:off x="594360" y="3291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were deleted. All null values were handled with COALESCE() to preserve data integrity and ensure reliable downstream analysis.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4D2030-26C8-C4E3-8512-BA49171E9477}"/>
              </a:ext>
            </a:extLst>
          </p:cNvPr>
          <p:cNvSpPr/>
          <p:nvPr/>
        </p:nvSpPr>
        <p:spPr>
          <a:xfrm>
            <a:off x="603504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Used in Analysis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66F50FE-A429-B513-6910-D5D394492BE9}"/>
              </a:ext>
            </a:extLst>
          </p:cNvPr>
          <p:cNvSpPr/>
          <p:nvPr/>
        </p:nvSpPr>
        <p:spPr>
          <a:xfrm>
            <a:off x="6035040" y="1417320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6D46521-8389-68ED-7159-15962126A405}"/>
              </a:ext>
            </a:extLst>
          </p:cNvPr>
          <p:cNvSpPr/>
          <p:nvPr/>
        </p:nvSpPr>
        <p:spPr>
          <a:xfrm>
            <a:off x="603504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170A5DF-EF2D-0CE0-DFA5-09028B20B89C}"/>
              </a:ext>
            </a:extLst>
          </p:cNvPr>
          <p:cNvSpPr/>
          <p:nvPr/>
        </p:nvSpPr>
        <p:spPr>
          <a:xfrm>
            <a:off x="6035040" y="1984248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E551052-85BE-9EC9-60EF-EF04B10422FA}"/>
              </a:ext>
            </a:extLst>
          </p:cNvPr>
          <p:cNvSpPr/>
          <p:nvPr/>
        </p:nvSpPr>
        <p:spPr>
          <a:xfrm>
            <a:off x="603504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45EDE8F-B3E8-BEF4-0347-4C6DA86010B8}"/>
              </a:ext>
            </a:extLst>
          </p:cNvPr>
          <p:cNvSpPr/>
          <p:nvPr/>
        </p:nvSpPr>
        <p:spPr>
          <a:xfrm>
            <a:off x="6035040" y="2551176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8679321-A4FA-FC3E-0B98-91E188F1A2B5}"/>
              </a:ext>
            </a:extLst>
          </p:cNvPr>
          <p:cNvSpPr/>
          <p:nvPr/>
        </p:nvSpPr>
        <p:spPr>
          <a:xfrm>
            <a:off x="6035040" y="25511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InvoiceLine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CB36B02-B2AB-6DB0-2ABF-9D261FF75CD2}"/>
              </a:ext>
            </a:extLst>
          </p:cNvPr>
          <p:cNvSpPr/>
          <p:nvPr/>
        </p:nvSpPr>
        <p:spPr>
          <a:xfrm>
            <a:off x="6035040" y="3118104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E3F6666-B3A7-5AC8-04B9-853D3E5052F3}"/>
              </a:ext>
            </a:extLst>
          </p:cNvPr>
          <p:cNvSpPr/>
          <p:nvPr/>
        </p:nvSpPr>
        <p:spPr>
          <a:xfrm>
            <a:off x="603504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BBBB15E-2D80-E05E-F00A-D3111AD65779}"/>
              </a:ext>
            </a:extLst>
          </p:cNvPr>
          <p:cNvSpPr/>
          <p:nvPr/>
        </p:nvSpPr>
        <p:spPr>
          <a:xfrm>
            <a:off x="7452360" y="1417320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D54626E-F68B-AF9A-43F2-571310DBF921}"/>
              </a:ext>
            </a:extLst>
          </p:cNvPr>
          <p:cNvSpPr/>
          <p:nvPr/>
        </p:nvSpPr>
        <p:spPr>
          <a:xfrm>
            <a:off x="745236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0400B23-67C6-3021-67D4-7569CE5980C0}"/>
              </a:ext>
            </a:extLst>
          </p:cNvPr>
          <p:cNvSpPr/>
          <p:nvPr/>
        </p:nvSpPr>
        <p:spPr>
          <a:xfrm>
            <a:off x="7452360" y="1984248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0E49358-D742-7B64-914A-8E2784084656}"/>
              </a:ext>
            </a:extLst>
          </p:cNvPr>
          <p:cNvSpPr/>
          <p:nvPr/>
        </p:nvSpPr>
        <p:spPr>
          <a:xfrm>
            <a:off x="7452360" y="19842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C55E23C-A57F-BE3E-BE9D-DC24548B47D8}"/>
              </a:ext>
            </a:extLst>
          </p:cNvPr>
          <p:cNvSpPr/>
          <p:nvPr/>
        </p:nvSpPr>
        <p:spPr>
          <a:xfrm>
            <a:off x="7452360" y="2551176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4111A87-85A8-44C5-92E9-6247C2FDD5E8}"/>
              </a:ext>
            </a:extLst>
          </p:cNvPr>
          <p:cNvSpPr/>
          <p:nvPr/>
        </p:nvSpPr>
        <p:spPr>
          <a:xfrm>
            <a:off x="7452360" y="25511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0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0E16A6F-3FA2-2A58-B40F-C2A9CF5046F2}"/>
              </a:ext>
            </a:extLst>
          </p:cNvPr>
          <p:cNvSpPr/>
          <p:nvPr/>
        </p:nvSpPr>
        <p:spPr>
          <a:xfrm>
            <a:off x="7452360" y="3118104"/>
            <a:ext cx="13258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06380D4-AD5F-F1AA-0C56-7B48CDFF3809}"/>
              </a:ext>
            </a:extLst>
          </p:cNvPr>
          <p:cNvSpPr/>
          <p:nvPr/>
        </p:nvSpPr>
        <p:spPr>
          <a:xfrm>
            <a:off x="7452360" y="311810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549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 ·  SALES &amp; MARKET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Genre Rankings — Rock Commands the Market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36576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8521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Rank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17320"/>
          <a:ext cx="3017520" cy="3200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$826.65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$261.36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&amp; Punk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$241.56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Jazz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R&amp;B/Soul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Reggae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852160" y="4617720"/>
            <a:ext cx="3017520" cy="411480"/>
          </a:xfrm>
          <a:prstGeom prst="rect">
            <a:avLst/>
          </a:prstGeom>
          <a:solidFill>
            <a:srgbClr val="EFF6FF"/>
          </a:solidFill>
          <a:ln w="19050">
            <a:solidFill>
              <a:srgbClr val="2A5FA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4617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🎸 Rock alone accounts for &gt;50% of USA genre revenue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 ·  SALES &amp; MARKET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Tracks, Artists &amp; Genres Driving USA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6517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Top Tracks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2651760" cy="2011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Balls to the 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Restless and Wild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The Finger On You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The Venom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Evil Walks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46120" y="1051560"/>
            <a:ext cx="2651760" cy="347472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Top Artists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417320"/>
          <a:ext cx="2651760" cy="2011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Maiden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Zeppelin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🎼  Top Genres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17320"/>
          <a:ext cx="2651760" cy="2011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&amp; Punk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Jazz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219437011"/>
              </p:ext>
            </p:extLst>
          </p:nvPr>
        </p:nvGraphicFramePr>
        <p:xfrm>
          <a:off x="1371600" y="3555124"/>
          <a:ext cx="6400800" cy="149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 ·  SALES &amp; MARKET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Geography — USA &amp; Czech Republic Lead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Q4 — Total revenue and invoices by country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36576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8521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Revenue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17320"/>
          <a:ext cx="3017520" cy="22860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 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852160" y="3794760"/>
            <a:ext cx="301752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3794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Prague (Czech Republic) records highest city-level spending — strong candidate for loyalty upselling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 ·  SALES &amp; MARKET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Markets — Rock &amp; Metal Lead Global Sales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Q2 — Non-USA genre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650987610"/>
              </p:ext>
            </p:extLst>
          </p:nvPr>
        </p:nvGraphicFramePr>
        <p:xfrm>
          <a:off x="365760" y="1097280"/>
          <a:ext cx="8412480" cy="3474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FF6FF"/>
          </a:solidFill>
          <a:ln w="19050">
            <a:solidFill>
              <a:srgbClr val="2A5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dominates both USA and international markets — a unified global genre strategy anchored in Rock is viable.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 ·  CUSTOMER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— Location-Driven Demographics Across 24 Countries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Q3 — No age/gender data; location-based breakdown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36576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8521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417320"/>
            <a:ext cx="30175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41732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24 countries represented in the customer database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2112264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11226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has the largest customer base with 13 customers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807208"/>
            <a:ext cx="30175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80720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age or gender data available — location-only analysis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502152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50215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Top cities: Prague, São Paulo, London, Mountain View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4197096"/>
            <a:ext cx="30175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419709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Missing state field in many records limits state-level drill-down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4681728"/>
            <a:ext cx="5303520" cy="347472"/>
          </a:xfrm>
          <a:prstGeom prst="rect">
            <a:avLst/>
          </a:prstGeom>
          <a:solidFill>
            <a:srgbClr val="EFF6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81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Enrich dataset with age/gender for precision targeting.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 ·  CUSTOMER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Customers per Country — High-Value Accounts Identified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Q5 &amp; Q6 — RANK() window function applied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36692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Harris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Czech Republic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František Wichterlová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Philips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$99.99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Luís Gonçalves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Hannah Schneider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Wyatt Girard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$99.99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Ireland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Hugh O'Reilly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FF6FF"/>
          </a:solidFill>
          <a:ln w="19050">
            <a:solidFill>
              <a:srgbClr val="2A5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VIP account management — top-ranked customers per country represent outsized revenue potential. Prioritize personalized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 ·  CUSTOMER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Behavior — Declining Activity 2017–2020 Signals Disengagement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68659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205580568"/>
              </p:ext>
            </p:extLst>
          </p:nvPr>
        </p:nvGraphicFramePr>
        <p:xfrm>
          <a:off x="365760" y="1204332"/>
          <a:ext cx="5120640" cy="3184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6692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Invoice Value by Customer (Top 8)</a:t>
            </a:r>
            <a:endParaRPr lang="en-US" sz="10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669280" y="1417320"/>
          <a:ext cx="3200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480560"/>
            <a:ext cx="512064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480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Clear downward trend in purchases 2017→2020. No new customers after 2017 — acquisition pipeline is empty.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669280" y="4069080"/>
            <a:ext cx="3200400" cy="411480"/>
          </a:xfrm>
          <a:prstGeom prst="rect">
            <a:avLst/>
          </a:prstGeom>
          <a:solidFill>
            <a:srgbClr val="EFF6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072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~$9.77 across all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 ·  CUSTOMER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Long-Term Customers Dominate, No New Acquisition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60109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874520" cy="1051560"/>
          </a:xfrm>
          <a:prstGeom prst="rect">
            <a:avLst/>
          </a:prstGeom>
          <a:solidFill>
            <a:srgbClr val="2A5FA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752905"/>
            <a:ext cx="18745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874520" cy="1051560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216152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752905"/>
            <a:ext cx="18745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(items)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1874520" cy="1051560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16152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80560" y="1752905"/>
            <a:ext cx="18745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1143000"/>
            <a:ext cx="1874520" cy="1051560"/>
          </a:xfrm>
          <a:prstGeom prst="rect">
            <a:avLst/>
          </a:prstGeom>
          <a:solidFill>
            <a:srgbClr val="596F8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216152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$9.77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37960" y="1752905"/>
            <a:ext cx="18745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Comparison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8412480" cy="1371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— historical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 (recent)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identified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Gap: Zero new customers identified in the dataset. The entire customer base consists of long-term buyers. Without new acquisition investment, this is a long-term growth risk — revenue depends entirely on retaining an aging customer cohort.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 ·  CUSTOMER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Affinity — Metal &amp; Rock Are the Cross-Selling Anchor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Co-Purchase Frequency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37160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486400" y="1051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Album Self-Pairings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49348"/>
              </p:ext>
            </p:extLst>
          </p:nvPr>
        </p:nvGraphicFramePr>
        <p:xfrm>
          <a:off x="5486400" y="1371600"/>
          <a:ext cx="3383280" cy="2446024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A5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Superhits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Those About To Rock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Jagged Little Pill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Experienced?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3977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Affinity Pairs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4279392"/>
            <a:ext cx="1965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2793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Day + Led Zeppelin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2468880" y="4279392"/>
            <a:ext cx="1965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68880" y="42793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+ The Rolling Stones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0" y="4279392"/>
            <a:ext cx="1965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0" y="42793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Metallica + Iron Maiden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675120" y="4279392"/>
            <a:ext cx="1965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42793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+ Red Hot Chili Peppers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0" y="3844999"/>
            <a:ext cx="3383280" cy="363901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7"/>
          <p:cNvSpPr/>
          <p:nvPr/>
        </p:nvSpPr>
        <p:spPr>
          <a:xfrm>
            <a:off x="5577840" y="3863344"/>
            <a:ext cx="3200400" cy="41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1E293B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Customers buying 3+ genres show broadest spending. Rock buyers also buy Metal 986 times — ideal for bundle promotions.</a:t>
            </a:r>
            <a:endParaRPr lang="en-US" sz="9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 ·  CHURN &amp; RISK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— 1.85% Overall, but 100% City-Level Inactivity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2743200" cy="1097280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9903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962302"/>
            <a:ext cx="274320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1-Year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743200" cy="1097280"/>
          </a:xfrm>
          <a:prstGeom prst="rect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9903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1962302"/>
            <a:ext cx="274320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Analyzed Cities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51760" cy="1097280"/>
          </a:xfrm>
          <a:prstGeom prst="rect">
            <a:avLst/>
          </a:prstGeom>
          <a:solidFill>
            <a:srgbClr val="2A5FA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990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962302"/>
            <a:ext cx="265176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Churn — All Cities Show 100% Churn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841248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re-engagement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Montréal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re-engagement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 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re-engagement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re-engagement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Czech Republic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Re-engage despite high spend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4846320"/>
            <a:ext cx="8412480" cy="164592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aggregate churn (1.85%) masks alarming 100% regional inactivity — the aggregate metric is misleading here.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 ·  CHURN &amp; RISK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— 3-Month Inactivity Flags Immediate Re-engagement Targets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47472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" y="1417320"/>
            <a:ext cx="3721608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417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customer + invoice table to include customers with no recent activity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347472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0312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2103120"/>
            <a:ext cx="3721608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customer ID to evaluate at individual level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347472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8892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788920"/>
            <a:ext cx="3721608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MAX(invoice_date) used to find most recent purchase per customer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347472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7472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" y="3474720"/>
            <a:ext cx="3721608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last purchase &gt; 3 months from current 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41148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59 customers in the dataset are classified as inactive under the 3-month threshold — this is your complete re-engagement target list.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097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Inactive Customers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297680" cy="3520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Purchase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Harris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Phillips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Luís Gonçalves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František Wichterlová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Czech Republic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Wyatt Girard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Hugh O'Reilly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Ireland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 ·  CHURN &amp; RISK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Profiling — Three-Tier Risk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Q6 — Risk, Medium Risk, Low Risk segmentation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365760" y="109728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097280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097280"/>
            <a:ext cx="10972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143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3898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No purchase in 1+ year  |  Count: ~25 customers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46320" y="15819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Win-back campaigns: discounts on past genre preferences, personalized emails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2359152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359152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404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Risk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2651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Moderate spend, limited recent activity  |  Count: ~20 customers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284378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Loyalty incentives: increase purchase frequency with targeted promotions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3621024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621024"/>
            <a:ext cx="10972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666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3913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Consistent engagement &amp; spending  |  Count: ~14 customers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6320" y="410565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Exclusive perks: early access, premium content, loyalty rewards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 ·  CHURN &amp; RISK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— Modeling Future Revenue Potential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365760" y="109728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Spending Segment</a:t>
            </a:r>
            <a:endParaRPr lang="en-US" sz="95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623758705"/>
              </p:ext>
            </p:extLst>
          </p:nvPr>
        </p:nvGraphicFramePr>
        <p:xfrm>
          <a:off x="4663440" y="105156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37923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Purchase Frequency Segment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4023360"/>
            <a:ext cx="841248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customers currently inactive — uniform churn signal across all CLV segments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4279392"/>
            <a:ext cx="8412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High-CLV frequent buyers should receive priority retention offers and exclusive perks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4535424"/>
            <a:ext cx="841248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45354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Rare purchasers with high spend are 'dormant whales' — high-impact re-engagement targets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4791456"/>
            <a:ext cx="8412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47914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Tenure analysis: even long-term customers losing interest — proactive re-engagement needed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 ·  STRATEGIC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Prioritize R&amp;B/Soul &amp; Rock Albums for USA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And Shall Find: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The Best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19456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R&amp;B / Soul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album sales in USA — proven demand &amp; repeat listener base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5FA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371600"/>
            <a:ext cx="2743200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64992" y="19476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Muddy Banks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Wishkah [Live]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02152" y="2834640"/>
            <a:ext cx="2194560" cy="292608"/>
          </a:xfrm>
          <a:prstGeom prst="rect">
            <a:avLst/>
          </a:prstGeom>
          <a:solidFill>
            <a:srgbClr val="2A5FAC">
              <a:alpha val="20000"/>
            </a:srgbClr>
          </a:solidFill>
          <a:ln w="12700">
            <a:solidFill>
              <a:srgbClr val="2A5FA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Rock audience — live album format drives collectible appeal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137160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96F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371600"/>
            <a:ext cx="2743200" cy="502920"/>
          </a:xfrm>
          <a:prstGeom prst="rect">
            <a:avLst/>
          </a:prstGeom>
          <a:solidFill>
            <a:srgbClr val="596F82"/>
          </a:solidFill>
          <a:ln w="12700">
            <a:solidFill>
              <a:srgbClr val="596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27064" y="19476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Experienced?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64224" y="2834640"/>
            <a:ext cx="2194560" cy="292608"/>
          </a:xfrm>
          <a:prstGeom prst="rect">
            <a:avLst/>
          </a:prstGeom>
          <a:solidFill>
            <a:srgbClr val="596F82">
              <a:alpha val="20000"/>
            </a:srgbClr>
          </a:solidFill>
          <a:ln w="12700">
            <a:solidFill>
              <a:srgbClr val="596F8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27064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Rock catalog — enduring audience demand &amp; wide demographic reach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 ·  STRATEGIC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Leverage Genre &amp; Artist Affinity for Cross-Selling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787853220"/>
              </p:ext>
            </p:extLst>
          </p:nvPr>
        </p:nvGraphicFramePr>
        <p:xfrm>
          <a:off x="365760" y="128016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097280"/>
            <a:ext cx="16459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5778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Bundles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Metal + Rock offerings — 986 co-purchases prove customer appetite. Offer combo discounts.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333488" y="1097280"/>
            <a:ext cx="16459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33488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33488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Playlists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79208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Cross-genre playlists: Rock × Alt &amp; Punk × Metal to drive discovery and upselling across genres.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577840" y="2697480"/>
            <a:ext cx="16459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7784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778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Bundles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Green Day + Led Zeppelin, Nirvana + Rolling Stones — top artist affinity combinations.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33488" y="2697480"/>
            <a:ext cx="16459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33488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💿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33488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Self-Paired Albums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79208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Big Ones (348×), Facelift (304×) via loyalty discounts — high standalone demand.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4206240"/>
            <a:ext cx="5029200" cy="731520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206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Metal–Rock is your highest affinity pair with 986 co-purchases. Lead with this pairing in any cross-selling or bundle campaign for maximum revenue lift.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 ·  STRATEGIC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Regional Re-engagement &amp; Customer Retention Strategy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Prague &amp; High-Spend Cities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Upselling campaigns on premium albums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enrollment priority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access to new releases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Dedicated account manager contact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0744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100% Churn Cities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(Brazil, Canada, USA, Germany)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69164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Personalized win-back emails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33172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Discounts on historically purchased genres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97180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customer reactivation offers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61188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Survey to understand reasons for leaving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7432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New Customer Acquisition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new customers found)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digital acquisition channels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33172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Genre-based audience targeting online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2971800"/>
            <a:ext cx="2560320" cy="54864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music platforms for referrals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3611880"/>
            <a:ext cx="2560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Introductory offer for first-time buyers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 ·  STRATEGIC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Promotional Impact — Campaign Analysis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Q8 — How to measure campaign effectiveness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FA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206240" cy="384048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Customer Acquisition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527048"/>
            <a:ext cx="40050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new customers joining during promotions.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 non-promo periods to measure lift.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new sign-ups, first-time buyers, referral sources.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Retention &amp; Repeat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56048" y="1527048"/>
            <a:ext cx="40050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repeat purchases after campaign ends.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repeat rate vs non-promotional baseline.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campaign drove long-term loyalty.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4206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Sales Uplift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447288"/>
            <a:ext cx="40050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during campaign vs comparable non-promo period.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seasonal trends and external factors.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incremental revenue attributable to campaign.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4206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17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Segmented Response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6048" y="3447288"/>
            <a:ext cx="40050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different customer groups responded.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country, spending tier, genre preference.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highest-responding segments for future focus.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Immediate Actions (0–30 days)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5331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Launch USA promotional campaign for top 3 albums (R&amp;B/Soul + Rock)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7510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Deploy risk-tier re-engagement campaigns for High Risk &amp; Medium Risk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968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Fix address/state data gaps — clean data for better regional segmentation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Medium-Term Actions (30–90 days)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5331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Invest in new customer acquisition strategy — zero new customers is unsustainable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975104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7510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CLV tracking dashboard — monitor spending, frequency &amp; tenure monthly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596896"/>
            <a:ext cx="3931920" cy="530352"/>
          </a:xfrm>
          <a:prstGeom prst="rect">
            <a:avLst/>
          </a:prstGeom>
          <a:solidFill>
            <a:srgbClr val="1A3A6B"/>
          </a:solidFill>
          <a:ln w="6350">
            <a:solidFill>
              <a:srgbClr val="2A5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5968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Introduce loyalty program tiers based on spending and purchase frequency segments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2A5FAC"/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930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Chinook's physical music market opportunity is real — Rock and R&amp;B/Soul dominate USA demand, high-value customers exist across 24 countries, and a structured re-engagement and cross-selling strategy can materially recover lapsing revenue. The data signals are clear; the next step is execution.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2596</Words>
  <Application>Microsoft Office PowerPoint</Application>
  <PresentationFormat>On-screen Show (16:9)</PresentationFormat>
  <Paragraphs>573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Records – Strategic Analysis</dc:title>
  <dc:subject>PptxGenJS Presentation</dc:subject>
  <dc:creator>PptxGenJS</dc:creator>
  <cp:lastModifiedBy>Nippa Nippa</cp:lastModifiedBy>
  <cp:revision>3</cp:revision>
  <dcterms:created xsi:type="dcterms:W3CDTF">2026-05-11T04:34:41Z</dcterms:created>
  <dcterms:modified xsi:type="dcterms:W3CDTF">2026-05-13T03:34:57Z</dcterms:modified>
</cp:coreProperties>
</file>